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5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19FDBF-79AA-E75A-C597-8E4FB564BB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B8ECA21-D072-8DD3-E1AF-74BC165F4C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AAF8BF-C50C-717F-5CB5-8A4A5F0BE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E06AB-157C-4A39-9C04-BAA1BF062B08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D2F45F-162A-7F28-0747-3FA05FBA0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56EA1E-BFA7-77C1-7547-F3C646630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7B872-F892-43A3-BC52-19805FC6C7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9865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D083B1-FACB-7881-F1BF-F6B8B81E6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A098C1-58D3-54E5-75CA-156C74999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CE96DA-1EA8-3C79-2195-53E95947C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E06AB-157C-4A39-9C04-BAA1BF062B08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CDE1DA-6BE9-5199-E085-5232F30C4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104884-ED59-E027-3313-951BC3BA7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7B872-F892-43A3-BC52-19805FC6C7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670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907E08-6F29-5F71-2094-657E9DC2E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D2ED37-C995-26D7-2E2D-D69AC767AD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D9468A-D727-AFD9-C5C1-1713F5975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E06AB-157C-4A39-9C04-BAA1BF062B08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BBED54-1008-3D5B-FD33-AA501415F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651C35-B236-FCEA-62EF-726B0B1F2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7B872-F892-43A3-BC52-19805FC6C7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8394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37E58A-E8B2-A83C-C9CB-DCD389C3B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7AFF98-2F54-6AF8-EE49-9C0DF809A5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6742834-7FAA-FF36-1AA2-D815ACB738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7ED5A2-64FE-03B4-1B1C-88E82BBB4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E06AB-157C-4A39-9C04-BAA1BF062B08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C3ABB6-C7AA-3682-EB1A-FCB51F132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84A9518-2847-BD6B-6CBF-A79F785C2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7B872-F892-43A3-BC52-19805FC6C7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1722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CC9725-5DAD-7D11-D6EC-D4F7E18F6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218949-9727-BB9C-2304-9080ED0DB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C6E0DFB-716E-3694-93B7-A12C26E2FC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F53F281-A3DC-12BF-717C-B37FEFCCE1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24A5E62-1A31-7066-785E-ABC287BE69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166F06A-C1ED-5A8B-42D3-ACC6A3CFC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E06AB-157C-4A39-9C04-BAA1BF062B08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01572F9-0F42-A2D6-AF8F-A8AF89118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A84A3E4-8177-9CD6-F511-1872D712E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7B872-F892-43A3-BC52-19805FC6C7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4247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5E908A-4BA7-FD59-B1AD-82958F602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2B233A-2ABE-F3AC-CBA7-B52FCAF15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E06AB-157C-4A39-9C04-BAA1BF062B08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A47A368-A344-12A1-3A92-09BBE0933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82FE55A-D7B1-7DCE-3ED2-3FAA2E7AE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7B872-F892-43A3-BC52-19805FC6C7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9860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E051B95-2B0A-11C5-56CF-5A24F114C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E06AB-157C-4A39-9C04-BAA1BF062B08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FC61E8E-C9C4-CB42-6E0C-8A427115F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8E5C35-A2DD-5085-9F8A-B47EA66A8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7B872-F892-43A3-BC52-19805FC6C7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6570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4DF51-E395-14B5-B16B-A7CFCDD9A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DA8083-7D76-447F-2FE2-FAC3F682D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9D72E91-F695-624E-64F2-E02F64250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817E884-E1CE-DB45-A304-822128C01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E06AB-157C-4A39-9C04-BAA1BF062B08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FC31A55-0881-2AC4-2C15-2B8FCA4A3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DEF39D-F5E7-2081-348C-C62E8D258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7B872-F892-43A3-BC52-19805FC6C7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4929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0309B5-2D7A-81EE-344B-18D7AC613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5B119BE-D63B-A10C-A5D0-ADEB1A4C97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473A7F2-51B1-451F-E05C-C8B033160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805609-DA2B-44BF-B3AA-ABC819999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E06AB-157C-4A39-9C04-BAA1BF062B08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9C1C26-AB58-BD57-C500-DA4431C20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7FE866-73C5-9411-5394-ACA8295AB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7B872-F892-43A3-BC52-19805FC6C7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2125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902874-083B-8D0C-F5D3-0AC12DD77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D3FD65D-86F6-C21F-BE35-E282DFF0EE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D24C06-6E8E-3E7E-DC3B-0FB722E55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E06AB-157C-4A39-9C04-BAA1BF062B08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92ED16-2072-284B-5850-399A9747C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AD05E7-7379-A6A0-A1EC-852F0423D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7B872-F892-43A3-BC52-19805FC6C7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9368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E3EC1F5-A289-D4C0-F113-A17B7D9004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28902F2-8645-F43C-DD7C-A0BEAE9CCC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A81A4F-1D67-FCF5-A39B-979F55DC2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E06AB-157C-4A39-9C04-BAA1BF062B08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AE1736-E3DF-75D9-DF73-DBB881EDF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D35F35-AB68-7689-B84D-056A479DC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7B872-F892-43A3-BC52-19805FC6C7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2335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633B856-F0B4-3753-5A99-70CFB0F03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B5B22AC-5F91-7C96-8090-ADE861132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BAC772-42BE-6F80-092F-71D20B6FF4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EE06AB-157C-4A39-9C04-BAA1BF062B08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C27570-0262-C58D-5473-0D865FF23C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B9FCBF-51BB-8D38-6A6A-9B47BA3831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57B872-F892-43A3-BC52-19805FC6C7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3742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5437DD-70C0-07C1-4713-B56CBD455C59}"/>
              </a:ext>
            </a:extLst>
          </p:cNvPr>
          <p:cNvSpPr txBox="1"/>
          <p:nvPr/>
        </p:nvSpPr>
        <p:spPr>
          <a:xfrm>
            <a:off x="736600" y="1524000"/>
            <a:ext cx="10795000" cy="5693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3100" b="1">
                <a:solidFill>
                  <a:srgbClr val="1F2327"/>
                </a:solidFill>
                <a:latin typeface="Malgun Gothic" panose="020B0503020000020004" pitchFamily="50" charset="-127"/>
              </a:rPr>
              <a:t>Wi-Fi CSI </a:t>
            </a:r>
            <a:r>
              <a:rPr lang="ko-KR" altLang="en-US" sz="3100" b="1">
                <a:solidFill>
                  <a:srgbClr val="1F2327"/>
                </a:solidFill>
                <a:latin typeface="Malgun Gothic" panose="020B0503020000020004" pitchFamily="50" charset="-127"/>
              </a:rPr>
              <a:t>기반 비접촉 환자 이상 이벤트 감지 시스템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E37338-F49B-2CCC-5D42-C081E91C053B}"/>
              </a:ext>
            </a:extLst>
          </p:cNvPr>
          <p:cNvSpPr txBox="1"/>
          <p:nvPr/>
        </p:nvSpPr>
        <p:spPr>
          <a:xfrm>
            <a:off x="787400" y="2692400"/>
            <a:ext cx="9906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2000" b="1">
                <a:solidFill>
                  <a:srgbClr val="0E4566"/>
                </a:solidFill>
                <a:latin typeface="Malgun Gothic" panose="020B0503020000020004" pitchFamily="50" charset="-127"/>
              </a:rPr>
              <a:t>ESP32-S3 + MATLAB </a:t>
            </a:r>
            <a:r>
              <a:rPr lang="ko-KR" altLang="en-US" sz="2000" b="1">
                <a:solidFill>
                  <a:srgbClr val="0E4566"/>
                </a:solidFill>
                <a:latin typeface="Malgun Gothic" panose="020B0503020000020004" pitchFamily="50" charset="-127"/>
              </a:rPr>
              <a:t>기반 </a:t>
            </a:r>
            <a:r>
              <a:rPr lang="en-US" altLang="ko-KR" sz="2000" b="1">
                <a:solidFill>
                  <a:srgbClr val="0E4566"/>
                </a:solidFill>
                <a:latin typeface="Malgun Gothic" panose="020B0503020000020004" pitchFamily="50" charset="-127"/>
              </a:rPr>
              <a:t>CSI-only </a:t>
            </a:r>
            <a:r>
              <a:rPr lang="ko-KR" altLang="en-US" sz="2000" b="1">
                <a:solidFill>
                  <a:srgbClr val="0E4566"/>
                </a:solidFill>
                <a:latin typeface="Malgun Gothic" panose="020B0503020000020004" pitchFamily="50" charset="-127"/>
              </a:rPr>
              <a:t>캡스톤 데모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F967B1-0CE0-000B-9990-F74FA5AF7833}"/>
              </a:ext>
            </a:extLst>
          </p:cNvPr>
          <p:cNvSpPr txBox="1"/>
          <p:nvPr/>
        </p:nvSpPr>
        <p:spPr>
          <a:xfrm>
            <a:off x="812800" y="3619500"/>
            <a:ext cx="10287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>
                <a:solidFill>
                  <a:srgbClr val="4B5663"/>
                </a:solidFill>
                <a:latin typeface="Malgun Gothic" panose="020B0503020000020004" pitchFamily="50" charset="-127"/>
              </a:rPr>
              <a:t>카메라 없이 </a:t>
            </a:r>
            <a:r>
              <a:rPr lang="en-US" altLang="ko-KR">
                <a:solidFill>
                  <a:srgbClr val="4B5663"/>
                </a:solidFill>
                <a:latin typeface="Malgun Gothic" panose="020B0503020000020004" pitchFamily="50" charset="-127"/>
              </a:rPr>
              <a:t>Wi-Fi </a:t>
            </a:r>
            <a:r>
              <a:rPr lang="ko-KR" altLang="en-US">
                <a:solidFill>
                  <a:srgbClr val="4B5663"/>
                </a:solidFill>
                <a:latin typeface="Malgun Gothic" panose="020B0503020000020004" pitchFamily="50" charset="-127"/>
              </a:rPr>
              <a:t>신호 변화로 사람 존재</a:t>
            </a:r>
            <a:r>
              <a:rPr lang="en-US" altLang="ko-KR">
                <a:solidFill>
                  <a:srgbClr val="4B5663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>
                <a:solidFill>
                  <a:srgbClr val="4B5663"/>
                </a:solidFill>
                <a:latin typeface="Malgun Gothic" panose="020B0503020000020004" pitchFamily="50" charset="-127"/>
              </a:rPr>
              <a:t>움직임</a:t>
            </a:r>
            <a:r>
              <a:rPr lang="en-US" altLang="ko-KR">
                <a:solidFill>
                  <a:srgbClr val="4B5663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>
                <a:solidFill>
                  <a:srgbClr val="4B5663"/>
                </a:solidFill>
                <a:latin typeface="Malgun Gothic" panose="020B0503020000020004" pitchFamily="50" charset="-127"/>
              </a:rPr>
              <a:t>낙상 의심 이벤트 후보를 감지한다</a:t>
            </a:r>
            <a:r>
              <a:rPr lang="en-US" altLang="ko-KR">
                <a:solidFill>
                  <a:srgbClr val="4B5663"/>
                </a:solidFill>
                <a:latin typeface="Malgun Gothic" panose="020B0503020000020004" pitchFamily="50" charset="-127"/>
              </a:rPr>
              <a:t>.</a:t>
            </a:r>
            <a:endParaRPr lang="ko-KR" altLang="en-US">
              <a:solidFill>
                <a:srgbClr val="4B5663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55695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7B0B9E-E2A9-F59E-2D13-9B007A7D04CF}"/>
              </a:ext>
            </a:extLst>
          </p:cNvPr>
          <p:cNvSpPr txBox="1"/>
          <p:nvPr/>
        </p:nvSpPr>
        <p:spPr>
          <a:xfrm>
            <a:off x="533400" y="304800"/>
            <a:ext cx="11049000" cy="4770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2500" b="1">
                <a:solidFill>
                  <a:srgbClr val="1F2327"/>
                </a:solidFill>
                <a:latin typeface="Malgun Gothic" panose="020B0503020000020004" pitchFamily="50" charset="-127"/>
              </a:rPr>
              <a:t>문제 정의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6C892F-3C7D-1CC1-FC72-976EE5B87EB4}"/>
              </a:ext>
            </a:extLst>
          </p:cNvPr>
          <p:cNvSpPr txBox="1"/>
          <p:nvPr/>
        </p:nvSpPr>
        <p:spPr>
          <a:xfrm>
            <a:off x="558800" y="889000"/>
            <a:ext cx="109855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200">
                <a:solidFill>
                  <a:srgbClr val="4B5663"/>
                </a:solidFill>
                <a:latin typeface="Malgun Gothic" panose="020B0503020000020004" pitchFamily="50" charset="-127"/>
              </a:rPr>
              <a:t>환자 모니터링에서 프라이버시와 착용 부담을 줄이는 것이 목표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16BA9CE-ABF2-67AD-9BAA-BCB74015727C}"/>
              </a:ext>
            </a:extLst>
          </p:cNvPr>
          <p:cNvCxnSpPr/>
          <p:nvPr/>
        </p:nvCxnSpPr>
        <p:spPr>
          <a:xfrm>
            <a:off x="558800" y="1346200"/>
            <a:ext cx="11023600" cy="0"/>
          </a:xfrm>
          <a:prstGeom prst="line">
            <a:avLst/>
          </a:prstGeom>
          <a:ln w="16510">
            <a:solidFill>
              <a:srgbClr val="A4A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075A130-2137-9DF3-0455-2CEF23CF269D}"/>
              </a:ext>
            </a:extLst>
          </p:cNvPr>
          <p:cNvSpPr txBox="1"/>
          <p:nvPr/>
        </p:nvSpPr>
        <p:spPr>
          <a:xfrm>
            <a:off x="1143000" y="1905000"/>
            <a:ext cx="9906000" cy="212365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2200">
                <a:solidFill>
                  <a:srgbClr val="1F2327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2200">
                <a:solidFill>
                  <a:srgbClr val="1F2327"/>
                </a:solidFill>
                <a:latin typeface="Malgun Gothic" panose="020B0503020000020004" pitchFamily="50" charset="-127"/>
              </a:rPr>
              <a:t>카메라는 실내</a:t>
            </a:r>
            <a:r>
              <a:rPr lang="en-US" altLang="ko-KR" sz="2200">
                <a:solidFill>
                  <a:srgbClr val="1F2327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2200">
                <a:solidFill>
                  <a:srgbClr val="1F2327"/>
                </a:solidFill>
                <a:latin typeface="Malgun Gothic" panose="020B0503020000020004" pitchFamily="50" charset="-127"/>
              </a:rPr>
              <a:t>병실 환경에서 프라이버시 부담이 큼</a:t>
            </a:r>
          </a:p>
          <a:p>
            <a:r>
              <a:rPr lang="en-US" altLang="ko-KR" sz="2200">
                <a:solidFill>
                  <a:srgbClr val="1F2327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2200">
                <a:solidFill>
                  <a:srgbClr val="1F2327"/>
                </a:solidFill>
                <a:latin typeface="Malgun Gothic" panose="020B0503020000020004" pitchFamily="50" charset="-127"/>
              </a:rPr>
              <a:t>웨어러블 센서는 착용 불편</a:t>
            </a:r>
            <a:r>
              <a:rPr lang="en-US" altLang="ko-KR" sz="2200">
                <a:solidFill>
                  <a:srgbClr val="1F2327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2200">
                <a:solidFill>
                  <a:srgbClr val="1F2327"/>
                </a:solidFill>
                <a:latin typeface="Malgun Gothic" panose="020B0503020000020004" pitchFamily="50" charset="-127"/>
              </a:rPr>
              <a:t>배터리</a:t>
            </a:r>
            <a:r>
              <a:rPr lang="en-US" altLang="ko-KR" sz="2200">
                <a:solidFill>
                  <a:srgbClr val="1F2327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2200">
                <a:solidFill>
                  <a:srgbClr val="1F2327"/>
                </a:solidFill>
                <a:latin typeface="Malgun Gothic" panose="020B0503020000020004" pitchFamily="50" charset="-127"/>
              </a:rPr>
              <a:t>착용 누락 문제가 있음</a:t>
            </a:r>
          </a:p>
          <a:p>
            <a:r>
              <a:rPr lang="en-US" altLang="ko-KR" sz="2200">
                <a:solidFill>
                  <a:srgbClr val="1F2327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2200">
                <a:solidFill>
                  <a:srgbClr val="1F2327"/>
                </a:solidFill>
                <a:latin typeface="Malgun Gothic" panose="020B0503020000020004" pitchFamily="50" charset="-127"/>
              </a:rPr>
              <a:t>본 프로젝트는 저가 </a:t>
            </a:r>
            <a:r>
              <a:rPr lang="en-US" altLang="ko-KR" sz="2200">
                <a:solidFill>
                  <a:srgbClr val="1F2327"/>
                </a:solidFill>
                <a:latin typeface="Malgun Gothic" panose="020B0503020000020004" pitchFamily="50" charset="-127"/>
              </a:rPr>
              <a:t>ESP32 Wi-Fi CSI</a:t>
            </a:r>
            <a:r>
              <a:rPr lang="ko-KR" altLang="en-US" sz="2200">
                <a:solidFill>
                  <a:srgbClr val="1F2327"/>
                </a:solidFill>
                <a:latin typeface="Malgun Gothic" panose="020B0503020000020004" pitchFamily="50" charset="-127"/>
              </a:rPr>
              <a:t>로 비영상 기반 모니터링 가능성을 확인</a:t>
            </a:r>
          </a:p>
          <a:p>
            <a:r>
              <a:rPr lang="en-US" altLang="ko-KR" sz="2200">
                <a:solidFill>
                  <a:srgbClr val="1F2327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2200">
                <a:solidFill>
                  <a:srgbClr val="1F2327"/>
                </a:solidFill>
                <a:latin typeface="Malgun Gothic" panose="020B0503020000020004" pitchFamily="50" charset="-127"/>
              </a:rPr>
              <a:t>의료 진단이 아니라 캡스톤 수준의 이상 이벤트 후보 감지 데모로 범위를 설정</a:t>
            </a:r>
          </a:p>
        </p:txBody>
      </p:sp>
    </p:spTree>
    <p:extLst>
      <p:ext uri="{BB962C8B-B14F-4D97-AF65-F5344CB8AC3E}">
        <p14:creationId xmlns:p14="http://schemas.microsoft.com/office/powerpoint/2010/main" val="2709786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9E9401-4261-E51A-5019-955393BA8289}"/>
              </a:ext>
            </a:extLst>
          </p:cNvPr>
          <p:cNvSpPr txBox="1"/>
          <p:nvPr/>
        </p:nvSpPr>
        <p:spPr>
          <a:xfrm>
            <a:off x="533400" y="304800"/>
            <a:ext cx="11049000" cy="4770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2500" b="1">
                <a:solidFill>
                  <a:srgbClr val="1F2327"/>
                </a:solidFill>
                <a:latin typeface="Malgun Gothic" panose="020B0503020000020004" pitchFamily="50" charset="-127"/>
              </a:rPr>
              <a:t>핵심 아이디어</a:t>
            </a:r>
            <a:r>
              <a:rPr lang="en-US" altLang="ko-KR" sz="2500" b="1">
                <a:solidFill>
                  <a:srgbClr val="1F2327"/>
                </a:solidFill>
                <a:latin typeface="Malgun Gothic" panose="020B0503020000020004" pitchFamily="50" charset="-127"/>
              </a:rPr>
              <a:t>: Wi-Fi CSI</a:t>
            </a:r>
            <a:endParaRPr lang="ko-KR" altLang="en-US" sz="2500" b="1">
              <a:solidFill>
                <a:srgbClr val="1F2327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EE1A08-060D-34CB-EF55-07B14BFC69D3}"/>
              </a:ext>
            </a:extLst>
          </p:cNvPr>
          <p:cNvSpPr txBox="1"/>
          <p:nvPr/>
        </p:nvSpPr>
        <p:spPr>
          <a:xfrm>
            <a:off x="558800" y="889000"/>
            <a:ext cx="109855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200">
                <a:solidFill>
                  <a:srgbClr val="4B5663"/>
                </a:solidFill>
                <a:latin typeface="Malgun Gothic" panose="020B0503020000020004" pitchFamily="50" charset="-127"/>
              </a:rPr>
              <a:t>사람의 존재와 움직임이 </a:t>
            </a:r>
            <a:r>
              <a:rPr lang="en-US" altLang="ko-KR" sz="1200">
                <a:solidFill>
                  <a:srgbClr val="4B5663"/>
                </a:solidFill>
                <a:latin typeface="Malgun Gothic" panose="020B0503020000020004" pitchFamily="50" charset="-127"/>
              </a:rPr>
              <a:t>Wi-Fi </a:t>
            </a:r>
            <a:r>
              <a:rPr lang="ko-KR" altLang="en-US" sz="1200">
                <a:solidFill>
                  <a:srgbClr val="4B5663"/>
                </a:solidFill>
                <a:latin typeface="Malgun Gothic" panose="020B0503020000020004" pitchFamily="50" charset="-127"/>
              </a:rPr>
              <a:t>다중경로 변화로 나타난다는 점을 이용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7CAE0BA-8900-DE42-0D95-AB757413B461}"/>
              </a:ext>
            </a:extLst>
          </p:cNvPr>
          <p:cNvCxnSpPr/>
          <p:nvPr/>
        </p:nvCxnSpPr>
        <p:spPr>
          <a:xfrm>
            <a:off x="558800" y="1346200"/>
            <a:ext cx="11023600" cy="0"/>
          </a:xfrm>
          <a:prstGeom prst="line">
            <a:avLst/>
          </a:prstGeom>
          <a:ln w="16510">
            <a:solidFill>
              <a:srgbClr val="A4A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208CC84-8C69-F056-9637-2D0879822B36}"/>
              </a:ext>
            </a:extLst>
          </p:cNvPr>
          <p:cNvSpPr txBox="1"/>
          <p:nvPr/>
        </p:nvSpPr>
        <p:spPr>
          <a:xfrm>
            <a:off x="1143000" y="1905000"/>
            <a:ext cx="9906000" cy="17851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2200">
                <a:solidFill>
                  <a:srgbClr val="1F2327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2200">
                <a:solidFill>
                  <a:srgbClr val="1F2327"/>
                </a:solidFill>
                <a:latin typeface="Malgun Gothic" panose="020B0503020000020004" pitchFamily="50" charset="-127"/>
              </a:rPr>
              <a:t>사람이 실내에 있거나 움직이면 </a:t>
            </a:r>
            <a:r>
              <a:rPr lang="en-US" altLang="ko-KR" sz="2200">
                <a:solidFill>
                  <a:srgbClr val="1F2327"/>
                </a:solidFill>
                <a:latin typeface="Malgun Gothic" panose="020B0503020000020004" pitchFamily="50" charset="-127"/>
              </a:rPr>
              <a:t>Wi-Fi </a:t>
            </a:r>
            <a:r>
              <a:rPr lang="ko-KR" altLang="en-US" sz="2200">
                <a:solidFill>
                  <a:srgbClr val="1F2327"/>
                </a:solidFill>
                <a:latin typeface="Malgun Gothic" panose="020B0503020000020004" pitchFamily="50" charset="-127"/>
              </a:rPr>
              <a:t>반사</a:t>
            </a:r>
            <a:r>
              <a:rPr lang="en-US" altLang="ko-KR" sz="2200">
                <a:solidFill>
                  <a:srgbClr val="1F2327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2200">
                <a:solidFill>
                  <a:srgbClr val="1F2327"/>
                </a:solidFill>
                <a:latin typeface="Malgun Gothic" panose="020B0503020000020004" pitchFamily="50" charset="-127"/>
              </a:rPr>
              <a:t>산란 경로가 달라짐</a:t>
            </a:r>
          </a:p>
          <a:p>
            <a:r>
              <a:rPr lang="en-US" altLang="ko-KR" sz="2200">
                <a:solidFill>
                  <a:srgbClr val="1F2327"/>
                </a:solidFill>
                <a:latin typeface="Malgun Gothic" panose="020B0503020000020004" pitchFamily="50" charset="-127"/>
              </a:rPr>
              <a:t>• CSI</a:t>
            </a:r>
            <a:r>
              <a:rPr lang="ko-KR" altLang="en-US" sz="2200">
                <a:solidFill>
                  <a:srgbClr val="1F2327"/>
                </a:solidFill>
                <a:latin typeface="Malgun Gothic" panose="020B0503020000020004" pitchFamily="50" charset="-127"/>
              </a:rPr>
              <a:t>는 </a:t>
            </a:r>
            <a:r>
              <a:rPr lang="en-US" altLang="ko-KR" sz="2200">
                <a:solidFill>
                  <a:srgbClr val="1F2327"/>
                </a:solidFill>
                <a:latin typeface="Malgun Gothic" panose="020B0503020000020004" pitchFamily="50" charset="-127"/>
              </a:rPr>
              <a:t>subcarrier</a:t>
            </a:r>
            <a:r>
              <a:rPr lang="ko-KR" altLang="en-US" sz="2200">
                <a:solidFill>
                  <a:srgbClr val="1F2327"/>
                </a:solidFill>
                <a:latin typeface="Malgun Gothic" panose="020B0503020000020004" pitchFamily="50" charset="-127"/>
              </a:rPr>
              <a:t>별 신호 변화 정보를 포함</a:t>
            </a:r>
          </a:p>
          <a:p>
            <a:r>
              <a:rPr lang="en-US" altLang="ko-KR" sz="2200">
                <a:solidFill>
                  <a:srgbClr val="1F2327"/>
                </a:solidFill>
                <a:latin typeface="Malgun Gothic" panose="020B0503020000020004" pitchFamily="50" charset="-127"/>
              </a:rPr>
              <a:t>• MATLAB</a:t>
            </a:r>
            <a:r>
              <a:rPr lang="ko-KR" altLang="en-US" sz="2200">
                <a:solidFill>
                  <a:srgbClr val="1F2327"/>
                </a:solidFill>
                <a:latin typeface="Malgun Gothic" panose="020B0503020000020004" pitchFamily="50" charset="-127"/>
              </a:rPr>
              <a:t>에서 </a:t>
            </a:r>
            <a:r>
              <a:rPr lang="en-US" altLang="ko-KR" sz="2200">
                <a:solidFill>
                  <a:srgbClr val="1F2327"/>
                </a:solidFill>
                <a:latin typeface="Malgun Gothic" panose="020B0503020000020004" pitchFamily="50" charset="-127"/>
              </a:rPr>
              <a:t>amplitude, phase, temporal difference energy, PCA </a:t>
            </a:r>
            <a:r>
              <a:rPr lang="ko-KR" altLang="en-US" sz="2200">
                <a:solidFill>
                  <a:srgbClr val="1F2327"/>
                </a:solidFill>
                <a:latin typeface="Malgun Gothic" panose="020B0503020000020004" pitchFamily="50" charset="-127"/>
              </a:rPr>
              <a:t>특징을 추출</a:t>
            </a:r>
          </a:p>
          <a:p>
            <a:r>
              <a:rPr lang="en-US" altLang="ko-KR" sz="2200">
                <a:solidFill>
                  <a:srgbClr val="1F2327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2200">
                <a:solidFill>
                  <a:srgbClr val="1F2327"/>
                </a:solidFill>
                <a:latin typeface="Malgun Gothic" panose="020B0503020000020004" pitchFamily="50" charset="-127"/>
              </a:rPr>
              <a:t>정지</a:t>
            </a:r>
            <a:r>
              <a:rPr lang="en-US" altLang="ko-KR" sz="2200">
                <a:solidFill>
                  <a:srgbClr val="1F2327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2200">
                <a:solidFill>
                  <a:srgbClr val="1F2327"/>
                </a:solidFill>
                <a:latin typeface="Malgun Gothic" panose="020B0503020000020004" pitchFamily="50" charset="-127"/>
              </a:rPr>
              <a:t>움직임</a:t>
            </a:r>
            <a:r>
              <a:rPr lang="en-US" altLang="ko-KR" sz="2200">
                <a:solidFill>
                  <a:srgbClr val="1F2327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2200">
                <a:solidFill>
                  <a:srgbClr val="1F2327"/>
                </a:solidFill>
                <a:latin typeface="Malgun Gothic" panose="020B0503020000020004" pitchFamily="50" charset="-127"/>
              </a:rPr>
              <a:t>낙상 의심 이벤트는 영상이 아니라 </a:t>
            </a:r>
            <a:r>
              <a:rPr lang="en-US" altLang="ko-KR" sz="2200">
                <a:solidFill>
                  <a:srgbClr val="1F2327"/>
                </a:solidFill>
                <a:latin typeface="Malgun Gothic" panose="020B0503020000020004" pitchFamily="50" charset="-127"/>
              </a:rPr>
              <a:t>CSI </a:t>
            </a:r>
            <a:r>
              <a:rPr lang="ko-KR" altLang="en-US" sz="2200">
                <a:solidFill>
                  <a:srgbClr val="1F2327"/>
                </a:solidFill>
                <a:latin typeface="Malgun Gothic" panose="020B0503020000020004" pitchFamily="50" charset="-127"/>
              </a:rPr>
              <a:t>패턴 변화로 판단</a:t>
            </a:r>
          </a:p>
        </p:txBody>
      </p:sp>
    </p:spTree>
    <p:extLst>
      <p:ext uri="{BB962C8B-B14F-4D97-AF65-F5344CB8AC3E}">
        <p14:creationId xmlns:p14="http://schemas.microsoft.com/office/powerpoint/2010/main" val="1667346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8C5B08-35C1-810D-6754-0FCD4199FFBB}"/>
              </a:ext>
            </a:extLst>
          </p:cNvPr>
          <p:cNvSpPr txBox="1"/>
          <p:nvPr/>
        </p:nvSpPr>
        <p:spPr>
          <a:xfrm>
            <a:off x="533400" y="304800"/>
            <a:ext cx="11049000" cy="4770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2500" b="1">
                <a:solidFill>
                  <a:srgbClr val="1F2327"/>
                </a:solidFill>
                <a:latin typeface="Malgun Gothic" panose="020B0503020000020004" pitchFamily="50" charset="-127"/>
              </a:rPr>
              <a:t>시스템 구성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ED3EC2-B3AC-A920-46F2-06EF14E73941}"/>
              </a:ext>
            </a:extLst>
          </p:cNvPr>
          <p:cNvSpPr txBox="1"/>
          <p:nvPr/>
        </p:nvSpPr>
        <p:spPr>
          <a:xfrm>
            <a:off x="558800" y="889000"/>
            <a:ext cx="109855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200">
                <a:solidFill>
                  <a:srgbClr val="4B5663"/>
                </a:solidFill>
                <a:latin typeface="Malgun Gothic" panose="020B0503020000020004" pitchFamily="50" charset="-127"/>
              </a:rPr>
              <a:t>ESP32-S3</a:t>
            </a:r>
            <a:r>
              <a:rPr lang="ko-KR" altLang="en-US" sz="1200">
                <a:solidFill>
                  <a:srgbClr val="4B5663"/>
                </a:solidFill>
                <a:latin typeface="Malgun Gothic" panose="020B0503020000020004" pitchFamily="50" charset="-127"/>
              </a:rPr>
              <a:t>에서 </a:t>
            </a:r>
            <a:r>
              <a:rPr lang="en-US" altLang="ko-KR" sz="1200">
                <a:solidFill>
                  <a:srgbClr val="4B5663"/>
                </a:solidFill>
                <a:latin typeface="Malgun Gothic" panose="020B0503020000020004" pitchFamily="50" charset="-127"/>
              </a:rPr>
              <a:t>CSI</a:t>
            </a:r>
            <a:r>
              <a:rPr lang="ko-KR" altLang="en-US" sz="1200">
                <a:solidFill>
                  <a:srgbClr val="4B5663"/>
                </a:solidFill>
                <a:latin typeface="Malgun Gothic" panose="020B0503020000020004" pitchFamily="50" charset="-127"/>
              </a:rPr>
              <a:t>를 수집하고 </a:t>
            </a:r>
            <a:r>
              <a:rPr lang="en-US" altLang="ko-KR" sz="1200">
                <a:solidFill>
                  <a:srgbClr val="4B5663"/>
                </a:solidFill>
                <a:latin typeface="Malgun Gothic" panose="020B0503020000020004" pitchFamily="50" charset="-127"/>
              </a:rPr>
              <a:t>MATLAB</a:t>
            </a:r>
            <a:r>
              <a:rPr lang="ko-KR" altLang="en-US" sz="1200">
                <a:solidFill>
                  <a:srgbClr val="4B5663"/>
                </a:solidFill>
                <a:latin typeface="Malgun Gothic" panose="020B0503020000020004" pitchFamily="50" charset="-127"/>
              </a:rPr>
              <a:t>에서 전처리</a:t>
            </a:r>
            <a:r>
              <a:rPr lang="en-US" altLang="ko-KR" sz="1200">
                <a:solidFill>
                  <a:srgbClr val="4B5663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200">
                <a:solidFill>
                  <a:srgbClr val="4B5663"/>
                </a:solidFill>
                <a:latin typeface="Malgun Gothic" panose="020B0503020000020004" pitchFamily="50" charset="-127"/>
              </a:rPr>
              <a:t>특징 추출</a:t>
            </a:r>
            <a:r>
              <a:rPr lang="en-US" altLang="ko-KR" sz="1200">
                <a:solidFill>
                  <a:srgbClr val="4B5663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200">
                <a:solidFill>
                  <a:srgbClr val="4B5663"/>
                </a:solidFill>
                <a:latin typeface="Malgun Gothic" panose="020B0503020000020004" pitchFamily="50" charset="-127"/>
              </a:rPr>
              <a:t>상태 판단을 수행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E91ED42-7DEF-92B4-0401-0C3346D5725D}"/>
              </a:ext>
            </a:extLst>
          </p:cNvPr>
          <p:cNvCxnSpPr/>
          <p:nvPr/>
        </p:nvCxnSpPr>
        <p:spPr>
          <a:xfrm>
            <a:off x="558800" y="1346200"/>
            <a:ext cx="11023600" cy="0"/>
          </a:xfrm>
          <a:prstGeom prst="line">
            <a:avLst/>
          </a:prstGeom>
          <a:ln w="16510">
            <a:solidFill>
              <a:srgbClr val="A4A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D9C243C3-1515-63C1-45D9-F078B8AC34A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524000"/>
            <a:ext cx="10820400" cy="482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561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00449E-2168-4D96-8484-88AF83F0FAEF}"/>
              </a:ext>
            </a:extLst>
          </p:cNvPr>
          <p:cNvSpPr txBox="1"/>
          <p:nvPr/>
        </p:nvSpPr>
        <p:spPr>
          <a:xfrm>
            <a:off x="533400" y="304800"/>
            <a:ext cx="11049000" cy="4770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2500" b="1">
                <a:solidFill>
                  <a:srgbClr val="1F2327"/>
                </a:solidFill>
                <a:latin typeface="Malgun Gothic" panose="020B0503020000020004" pitchFamily="50" charset="-127"/>
              </a:rPr>
              <a:t>MATLAB CSI </a:t>
            </a:r>
            <a:r>
              <a:rPr lang="ko-KR" altLang="en-US" sz="2500" b="1">
                <a:solidFill>
                  <a:srgbClr val="1F2327"/>
                </a:solidFill>
                <a:latin typeface="Malgun Gothic" panose="020B0503020000020004" pitchFamily="50" charset="-127"/>
              </a:rPr>
              <a:t>처리 파이프라인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7852F1-D303-EE9F-A5F6-3378B6D75B74}"/>
              </a:ext>
            </a:extLst>
          </p:cNvPr>
          <p:cNvSpPr txBox="1"/>
          <p:nvPr/>
        </p:nvSpPr>
        <p:spPr>
          <a:xfrm>
            <a:off x="558800" y="889000"/>
            <a:ext cx="109855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200">
                <a:solidFill>
                  <a:srgbClr val="4B5663"/>
                </a:solidFill>
                <a:latin typeface="Malgun Gothic" panose="020B0503020000020004" pitchFamily="50" charset="-127"/>
              </a:rPr>
              <a:t>raw CSI</a:t>
            </a:r>
            <a:r>
              <a:rPr lang="ko-KR" altLang="en-US" sz="1200">
                <a:solidFill>
                  <a:srgbClr val="4B5663"/>
                </a:solidFill>
                <a:latin typeface="Malgun Gothic" panose="020B0503020000020004" pitchFamily="50" charset="-127"/>
              </a:rPr>
              <a:t>를 </a:t>
            </a:r>
            <a:r>
              <a:rPr lang="en-US" altLang="ko-KR" sz="1200">
                <a:solidFill>
                  <a:srgbClr val="4B5663"/>
                </a:solidFill>
                <a:latin typeface="Malgun Gothic" panose="020B0503020000020004" pitchFamily="50" charset="-127"/>
              </a:rPr>
              <a:t>complex CSI</a:t>
            </a:r>
            <a:r>
              <a:rPr lang="ko-KR" altLang="en-US" sz="1200">
                <a:solidFill>
                  <a:srgbClr val="4B5663"/>
                </a:solidFill>
                <a:latin typeface="Malgun Gothic" panose="020B0503020000020004" pitchFamily="50" charset="-127"/>
              </a:rPr>
              <a:t>로 변환한 뒤 </a:t>
            </a:r>
            <a:r>
              <a:rPr lang="en-US" altLang="ko-KR" sz="1200">
                <a:solidFill>
                  <a:srgbClr val="4B5663"/>
                </a:solidFill>
                <a:latin typeface="Malgun Gothic" panose="020B0503020000020004" pitchFamily="50" charset="-127"/>
              </a:rPr>
              <a:t>amplitude/phase</a:t>
            </a:r>
            <a:r>
              <a:rPr lang="ko-KR" altLang="en-US" sz="1200">
                <a:solidFill>
                  <a:srgbClr val="4B5663"/>
                </a:solidFill>
                <a:latin typeface="Malgun Gothic" panose="020B0503020000020004" pitchFamily="50" charset="-127"/>
              </a:rPr>
              <a:t>와 </a:t>
            </a:r>
            <a:r>
              <a:rPr lang="en-US" altLang="ko-KR" sz="1200">
                <a:solidFill>
                  <a:srgbClr val="4B5663"/>
                </a:solidFill>
                <a:latin typeface="Malgun Gothic" panose="020B0503020000020004" pitchFamily="50" charset="-127"/>
              </a:rPr>
              <a:t>sliding window feature</a:t>
            </a:r>
            <a:r>
              <a:rPr lang="ko-KR" altLang="en-US" sz="1200">
                <a:solidFill>
                  <a:srgbClr val="4B5663"/>
                </a:solidFill>
                <a:latin typeface="Malgun Gothic" panose="020B0503020000020004" pitchFamily="50" charset="-127"/>
              </a:rPr>
              <a:t>를 계산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27F91B7-1171-9116-9C11-2019E3F4DB7B}"/>
              </a:ext>
            </a:extLst>
          </p:cNvPr>
          <p:cNvCxnSpPr/>
          <p:nvPr/>
        </p:nvCxnSpPr>
        <p:spPr>
          <a:xfrm>
            <a:off x="558800" y="1346200"/>
            <a:ext cx="11023600" cy="0"/>
          </a:xfrm>
          <a:prstGeom prst="line">
            <a:avLst/>
          </a:prstGeom>
          <a:ln w="16510">
            <a:solidFill>
              <a:srgbClr val="A4A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D81CEAEA-DD71-D2F8-5886-C25DAD33891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524000"/>
            <a:ext cx="10820400" cy="482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462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9CBC8F-2DC4-0692-8E91-9EB182650145}"/>
              </a:ext>
            </a:extLst>
          </p:cNvPr>
          <p:cNvSpPr txBox="1"/>
          <p:nvPr/>
        </p:nvSpPr>
        <p:spPr>
          <a:xfrm>
            <a:off x="533400" y="304800"/>
            <a:ext cx="11049000" cy="4770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2500" b="1">
                <a:solidFill>
                  <a:srgbClr val="1F2327"/>
                </a:solidFill>
                <a:latin typeface="Malgun Gothic" panose="020B0503020000020004" pitchFamily="50" charset="-127"/>
              </a:rPr>
              <a:t>실제 수집 데이터 결과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A0377D-3679-77D2-3B66-0855ACA9CC98}"/>
              </a:ext>
            </a:extLst>
          </p:cNvPr>
          <p:cNvSpPr txBox="1"/>
          <p:nvPr/>
        </p:nvSpPr>
        <p:spPr>
          <a:xfrm>
            <a:off x="558800" y="889000"/>
            <a:ext cx="109855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200">
                <a:solidFill>
                  <a:srgbClr val="4B5663"/>
                </a:solidFill>
                <a:latin typeface="Malgun Gothic" panose="020B0503020000020004" pitchFamily="50" charset="-127"/>
              </a:rPr>
              <a:t>스마트폰 핫스팟 환경에서 </a:t>
            </a:r>
            <a:r>
              <a:rPr lang="en-US" altLang="ko-KR" sz="1200">
                <a:solidFill>
                  <a:srgbClr val="4B5663"/>
                </a:solidFill>
                <a:latin typeface="Malgun Gothic" panose="020B0503020000020004" pitchFamily="50" charset="-127"/>
              </a:rPr>
              <a:t>empty, static person, moving person </a:t>
            </a:r>
            <a:r>
              <a:rPr lang="ko-KR" altLang="en-US" sz="1200">
                <a:solidFill>
                  <a:srgbClr val="4B5663"/>
                </a:solidFill>
                <a:latin typeface="Malgun Gothic" panose="020B0503020000020004" pitchFamily="50" charset="-127"/>
              </a:rPr>
              <a:t>조건의 </a:t>
            </a:r>
            <a:r>
              <a:rPr lang="en-US" altLang="ko-KR" sz="1200">
                <a:solidFill>
                  <a:srgbClr val="4B5663"/>
                </a:solidFill>
                <a:latin typeface="Malgun Gothic" panose="020B0503020000020004" pitchFamily="50" charset="-127"/>
              </a:rPr>
              <a:t>CSI </a:t>
            </a:r>
            <a:r>
              <a:rPr lang="ko-KR" altLang="en-US" sz="1200">
                <a:solidFill>
                  <a:srgbClr val="4B5663"/>
                </a:solidFill>
                <a:latin typeface="Malgun Gothic" panose="020B0503020000020004" pitchFamily="50" charset="-127"/>
              </a:rPr>
              <a:t>로그를 수집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0F93DB6-C668-F526-E935-EAE69D75E345}"/>
              </a:ext>
            </a:extLst>
          </p:cNvPr>
          <p:cNvCxnSpPr/>
          <p:nvPr/>
        </p:nvCxnSpPr>
        <p:spPr>
          <a:xfrm>
            <a:off x="558800" y="1346200"/>
            <a:ext cx="11023600" cy="0"/>
          </a:xfrm>
          <a:prstGeom prst="line">
            <a:avLst/>
          </a:prstGeom>
          <a:ln w="16510">
            <a:solidFill>
              <a:srgbClr val="A4A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153839B7-5370-D1E4-B63F-969EF8B625A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524000"/>
            <a:ext cx="10820400" cy="482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76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5E4E81-3256-0B30-7AEF-CC28E644F05D}"/>
              </a:ext>
            </a:extLst>
          </p:cNvPr>
          <p:cNvSpPr txBox="1"/>
          <p:nvPr/>
        </p:nvSpPr>
        <p:spPr>
          <a:xfrm>
            <a:off x="533400" y="304800"/>
            <a:ext cx="11049000" cy="4770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2500" b="1">
                <a:solidFill>
                  <a:srgbClr val="1F2327"/>
                </a:solidFill>
                <a:latin typeface="Malgun Gothic" panose="020B0503020000020004" pitchFamily="50" charset="-127"/>
              </a:rPr>
              <a:t>활동 분류 및 실시간 모델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81D55D-D166-975D-294A-A58134D3B57C}"/>
              </a:ext>
            </a:extLst>
          </p:cNvPr>
          <p:cNvSpPr txBox="1"/>
          <p:nvPr/>
        </p:nvSpPr>
        <p:spPr>
          <a:xfrm>
            <a:off x="558800" y="889000"/>
            <a:ext cx="109855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200">
                <a:solidFill>
                  <a:srgbClr val="4B5663"/>
                </a:solidFill>
                <a:latin typeface="Malgun Gothic" panose="020B0503020000020004" pitchFamily="50" charset="-127"/>
              </a:rPr>
              <a:t>소규모 실제 수집 데이터로 </a:t>
            </a:r>
            <a:r>
              <a:rPr lang="en-US" altLang="ko-KR" sz="1200">
                <a:solidFill>
                  <a:srgbClr val="4B5663"/>
                </a:solidFill>
                <a:latin typeface="Malgun Gothic" panose="020B0503020000020004" pitchFamily="50" charset="-127"/>
              </a:rPr>
              <a:t>activity </a:t>
            </a:r>
            <a:r>
              <a:rPr lang="ko-KR" altLang="en-US" sz="1200">
                <a:solidFill>
                  <a:srgbClr val="4B5663"/>
                </a:solidFill>
                <a:latin typeface="Malgun Gothic" panose="020B0503020000020004" pitchFamily="50" charset="-127"/>
              </a:rPr>
              <a:t>분류 흐름과 실시간 추론 모델을 검증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4029A1D-D5EB-B841-A001-18B81F054D2B}"/>
              </a:ext>
            </a:extLst>
          </p:cNvPr>
          <p:cNvCxnSpPr/>
          <p:nvPr/>
        </p:nvCxnSpPr>
        <p:spPr>
          <a:xfrm>
            <a:off x="558800" y="1346200"/>
            <a:ext cx="11023600" cy="0"/>
          </a:xfrm>
          <a:prstGeom prst="line">
            <a:avLst/>
          </a:prstGeom>
          <a:ln w="16510">
            <a:solidFill>
              <a:srgbClr val="A4A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1B99732A-6F1B-A5EA-18F0-55D4D318DD9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651000"/>
            <a:ext cx="5588000" cy="4572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54BC163-F00C-A410-FA02-1E7E598B0D2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500" y="1651000"/>
            <a:ext cx="52705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372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DB525D-2AAD-A762-D9CA-595057091C36}"/>
              </a:ext>
            </a:extLst>
          </p:cNvPr>
          <p:cNvSpPr txBox="1"/>
          <p:nvPr/>
        </p:nvSpPr>
        <p:spPr>
          <a:xfrm>
            <a:off x="533400" y="304800"/>
            <a:ext cx="11049000" cy="4770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2500" b="1">
                <a:solidFill>
                  <a:srgbClr val="1F2327"/>
                </a:solidFill>
                <a:latin typeface="Malgun Gothic" panose="020B0503020000020004" pitchFamily="50" charset="-127"/>
              </a:rPr>
              <a:t>환자 이상 이벤트 후보 감지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B31AB9-5DC0-E7FB-05D2-B04F3046CE4C}"/>
              </a:ext>
            </a:extLst>
          </p:cNvPr>
          <p:cNvSpPr txBox="1"/>
          <p:nvPr/>
        </p:nvSpPr>
        <p:spPr>
          <a:xfrm>
            <a:off x="558800" y="889000"/>
            <a:ext cx="109855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200">
                <a:solidFill>
                  <a:srgbClr val="4B5663"/>
                </a:solidFill>
                <a:latin typeface="Malgun Gothic" panose="020B0503020000020004" pitchFamily="50" charset="-127"/>
              </a:rPr>
              <a:t>낙상은 진단이 아니라 급격한 </a:t>
            </a:r>
            <a:r>
              <a:rPr lang="en-US" altLang="ko-KR" sz="1200">
                <a:solidFill>
                  <a:srgbClr val="4B5663"/>
                </a:solidFill>
                <a:latin typeface="Malgun Gothic" panose="020B0503020000020004" pitchFamily="50" charset="-127"/>
              </a:rPr>
              <a:t>CSI </a:t>
            </a:r>
            <a:r>
              <a:rPr lang="ko-KR" altLang="en-US" sz="1200">
                <a:solidFill>
                  <a:srgbClr val="4B5663"/>
                </a:solidFill>
                <a:latin typeface="Malgun Gothic" panose="020B0503020000020004" pitchFamily="50" charset="-127"/>
              </a:rPr>
              <a:t>변화 기반의 의심 이벤트 후보로 표시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8F3E195-3F2A-C9A6-DF77-B06FBD6C3263}"/>
              </a:ext>
            </a:extLst>
          </p:cNvPr>
          <p:cNvCxnSpPr/>
          <p:nvPr/>
        </p:nvCxnSpPr>
        <p:spPr>
          <a:xfrm>
            <a:off x="558800" y="1346200"/>
            <a:ext cx="11023600" cy="0"/>
          </a:xfrm>
          <a:prstGeom prst="line">
            <a:avLst/>
          </a:prstGeom>
          <a:ln w="16510">
            <a:solidFill>
              <a:srgbClr val="A4A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40944DEA-EE2C-32D1-8126-7251EC8B620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651000"/>
            <a:ext cx="5588000" cy="4572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1DAA8A1-4E0F-F630-26F0-A61021A912B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500" y="1651000"/>
            <a:ext cx="52705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41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3DDB05-86B9-1434-B5D9-2B7408378F8E}"/>
              </a:ext>
            </a:extLst>
          </p:cNvPr>
          <p:cNvSpPr txBox="1"/>
          <p:nvPr/>
        </p:nvSpPr>
        <p:spPr>
          <a:xfrm>
            <a:off x="533400" y="304800"/>
            <a:ext cx="11049000" cy="4770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2500" b="1">
                <a:solidFill>
                  <a:srgbClr val="1F2327"/>
                </a:solidFill>
                <a:latin typeface="Malgun Gothic" panose="020B0503020000020004" pitchFamily="50" charset="-127"/>
              </a:rPr>
              <a:t>실시간 대시보드 데모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C3A328-DC70-AB83-2BD2-DC84AB1F91F0}"/>
              </a:ext>
            </a:extLst>
          </p:cNvPr>
          <p:cNvSpPr txBox="1"/>
          <p:nvPr/>
        </p:nvSpPr>
        <p:spPr>
          <a:xfrm>
            <a:off x="558800" y="889000"/>
            <a:ext cx="109855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200">
                <a:solidFill>
                  <a:srgbClr val="4B5663"/>
                </a:solidFill>
                <a:latin typeface="Malgun Gothic" panose="020B0503020000020004" pitchFamily="50" charset="-127"/>
              </a:rPr>
              <a:t>serial CSI</a:t>
            </a:r>
            <a:r>
              <a:rPr lang="ko-KR" altLang="en-US" sz="1200">
                <a:solidFill>
                  <a:srgbClr val="4B5663"/>
                </a:solidFill>
                <a:latin typeface="Malgun Gothic" panose="020B0503020000020004" pitchFamily="50" charset="-127"/>
              </a:rPr>
              <a:t>가 들어오면 현재 상태와 </a:t>
            </a:r>
            <a:r>
              <a:rPr lang="en-US" altLang="ko-KR" sz="1200">
                <a:solidFill>
                  <a:srgbClr val="4B5663"/>
                </a:solidFill>
                <a:latin typeface="Malgun Gothic" panose="020B0503020000020004" pitchFamily="50" charset="-127"/>
              </a:rPr>
              <a:t>feature </a:t>
            </a:r>
            <a:r>
              <a:rPr lang="ko-KR" altLang="en-US" sz="1200">
                <a:solidFill>
                  <a:srgbClr val="4B5663"/>
                </a:solidFill>
                <a:latin typeface="Malgun Gothic" panose="020B0503020000020004" pitchFamily="50" charset="-127"/>
              </a:rPr>
              <a:t>변화를 확인할 수 있음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7D825A5-DD9E-9BFC-6749-76033508D4F4}"/>
              </a:ext>
            </a:extLst>
          </p:cNvPr>
          <p:cNvCxnSpPr/>
          <p:nvPr/>
        </p:nvCxnSpPr>
        <p:spPr>
          <a:xfrm>
            <a:off x="558800" y="1346200"/>
            <a:ext cx="11023600" cy="0"/>
          </a:xfrm>
          <a:prstGeom prst="line">
            <a:avLst/>
          </a:prstGeom>
          <a:ln w="16510">
            <a:solidFill>
              <a:srgbClr val="A4A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8B3FCA58-AE0F-7565-3503-A3A780EDA0B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524000"/>
            <a:ext cx="10820400" cy="482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920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4501C8-550D-6B3F-E6DF-4B2E6008AACE}"/>
              </a:ext>
            </a:extLst>
          </p:cNvPr>
          <p:cNvSpPr txBox="1"/>
          <p:nvPr/>
        </p:nvSpPr>
        <p:spPr>
          <a:xfrm>
            <a:off x="533400" y="304800"/>
            <a:ext cx="11049000" cy="4770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2500" b="1">
                <a:solidFill>
                  <a:srgbClr val="1F2327"/>
                </a:solidFill>
                <a:latin typeface="Malgun Gothic" panose="020B0503020000020004" pitchFamily="50" charset="-127"/>
              </a:rPr>
              <a:t>결론 및 한계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9F12EF-3202-65B5-5451-228AD51D1844}"/>
              </a:ext>
            </a:extLst>
          </p:cNvPr>
          <p:cNvSpPr txBox="1"/>
          <p:nvPr/>
        </p:nvSpPr>
        <p:spPr>
          <a:xfrm>
            <a:off x="558800" y="889000"/>
            <a:ext cx="109855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200">
                <a:solidFill>
                  <a:srgbClr val="4B5663"/>
                </a:solidFill>
                <a:latin typeface="Malgun Gothic" panose="020B0503020000020004" pitchFamily="50" charset="-127"/>
              </a:rPr>
              <a:t>구현 가능성 중심의 캡스톤 데모이며</a:t>
            </a:r>
            <a:r>
              <a:rPr lang="en-US" altLang="ko-KR" sz="1200">
                <a:solidFill>
                  <a:srgbClr val="4B5663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200">
                <a:solidFill>
                  <a:srgbClr val="4B5663"/>
                </a:solidFill>
                <a:latin typeface="Malgun Gothic" panose="020B0503020000020004" pitchFamily="50" charset="-127"/>
              </a:rPr>
              <a:t>임상 검증으로 과장하지 않음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713E6AA-D122-4542-4C20-B9D5D0E2BAF2}"/>
              </a:ext>
            </a:extLst>
          </p:cNvPr>
          <p:cNvCxnSpPr/>
          <p:nvPr/>
        </p:nvCxnSpPr>
        <p:spPr>
          <a:xfrm>
            <a:off x="558800" y="1346200"/>
            <a:ext cx="11023600" cy="0"/>
          </a:xfrm>
          <a:prstGeom prst="line">
            <a:avLst/>
          </a:prstGeom>
          <a:ln w="16510">
            <a:solidFill>
              <a:srgbClr val="A4AF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82CEF41-A452-28E0-3E8C-D654F161D99B}"/>
              </a:ext>
            </a:extLst>
          </p:cNvPr>
          <p:cNvSpPr txBox="1"/>
          <p:nvPr/>
        </p:nvSpPr>
        <p:spPr>
          <a:xfrm>
            <a:off x="1143000" y="1905000"/>
            <a:ext cx="9906000" cy="17851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2200">
                <a:solidFill>
                  <a:srgbClr val="1F2327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2200">
                <a:solidFill>
                  <a:srgbClr val="1F2327"/>
                </a:solidFill>
                <a:latin typeface="Malgun Gothic" panose="020B0503020000020004" pitchFamily="50" charset="-127"/>
              </a:rPr>
              <a:t>구현 완료</a:t>
            </a:r>
            <a:r>
              <a:rPr lang="en-US" altLang="ko-KR" sz="2200">
                <a:solidFill>
                  <a:srgbClr val="1F2327"/>
                </a:solidFill>
                <a:latin typeface="Malgun Gothic" panose="020B0503020000020004" pitchFamily="50" charset="-127"/>
              </a:rPr>
              <a:t>: ESP32 CSI </a:t>
            </a:r>
            <a:r>
              <a:rPr lang="ko-KR" altLang="en-US" sz="2200">
                <a:solidFill>
                  <a:srgbClr val="1F2327"/>
                </a:solidFill>
                <a:latin typeface="Malgun Gothic" panose="020B0503020000020004" pitchFamily="50" charset="-127"/>
              </a:rPr>
              <a:t>수집</a:t>
            </a:r>
            <a:r>
              <a:rPr lang="en-US" altLang="ko-KR" sz="2200">
                <a:solidFill>
                  <a:srgbClr val="1F2327"/>
                </a:solidFill>
                <a:latin typeface="Malgun Gothic" panose="020B0503020000020004" pitchFamily="50" charset="-127"/>
              </a:rPr>
              <a:t>, MATLAB </a:t>
            </a:r>
            <a:r>
              <a:rPr lang="ko-KR" altLang="en-US" sz="2200">
                <a:solidFill>
                  <a:srgbClr val="1F2327"/>
                </a:solidFill>
                <a:latin typeface="Malgun Gothic" panose="020B0503020000020004" pitchFamily="50" charset="-127"/>
              </a:rPr>
              <a:t>전처리</a:t>
            </a:r>
            <a:r>
              <a:rPr lang="en-US" altLang="ko-KR" sz="2200">
                <a:solidFill>
                  <a:srgbClr val="1F2327"/>
                </a:solidFill>
                <a:latin typeface="Malgun Gothic" panose="020B0503020000020004" pitchFamily="50" charset="-127"/>
              </a:rPr>
              <a:t>, feature </a:t>
            </a:r>
            <a:r>
              <a:rPr lang="ko-KR" altLang="en-US" sz="2200">
                <a:solidFill>
                  <a:srgbClr val="1F2327"/>
                </a:solidFill>
                <a:latin typeface="Malgun Gothic" panose="020B0503020000020004" pitchFamily="50" charset="-127"/>
              </a:rPr>
              <a:t>추출</a:t>
            </a:r>
            <a:r>
              <a:rPr lang="en-US" altLang="ko-KR" sz="2200">
                <a:solidFill>
                  <a:srgbClr val="1F2327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2200">
                <a:solidFill>
                  <a:srgbClr val="1F2327"/>
                </a:solidFill>
                <a:latin typeface="Malgun Gothic" panose="020B0503020000020004" pitchFamily="50" charset="-127"/>
              </a:rPr>
              <a:t>분류</a:t>
            </a:r>
            <a:r>
              <a:rPr lang="en-US" altLang="ko-KR" sz="2200">
                <a:solidFill>
                  <a:srgbClr val="1F2327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2200">
                <a:solidFill>
                  <a:srgbClr val="1F2327"/>
                </a:solidFill>
                <a:latin typeface="Malgun Gothic" panose="020B0503020000020004" pitchFamily="50" charset="-127"/>
              </a:rPr>
              <a:t>대시보드</a:t>
            </a:r>
          </a:p>
          <a:p>
            <a:r>
              <a:rPr lang="en-US" altLang="ko-KR" sz="2200">
                <a:solidFill>
                  <a:srgbClr val="1F2327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2200">
                <a:solidFill>
                  <a:srgbClr val="1F2327"/>
                </a:solidFill>
                <a:latin typeface="Malgun Gothic" panose="020B0503020000020004" pitchFamily="50" charset="-127"/>
              </a:rPr>
              <a:t>차별점</a:t>
            </a:r>
            <a:r>
              <a:rPr lang="en-US" altLang="ko-KR" sz="2200">
                <a:solidFill>
                  <a:srgbClr val="1F2327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2200">
                <a:solidFill>
                  <a:srgbClr val="1F2327"/>
                </a:solidFill>
                <a:latin typeface="Malgun Gothic" panose="020B0503020000020004" pitchFamily="50" charset="-127"/>
              </a:rPr>
              <a:t>고가 장비</a:t>
            </a:r>
            <a:r>
              <a:rPr lang="en-US" altLang="ko-KR" sz="2200">
                <a:solidFill>
                  <a:srgbClr val="1F2327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2200">
                <a:solidFill>
                  <a:srgbClr val="1F2327"/>
                </a:solidFill>
                <a:latin typeface="Malgun Gothic" panose="020B0503020000020004" pitchFamily="50" charset="-127"/>
              </a:rPr>
              <a:t>카메라 없이 저비용 </a:t>
            </a:r>
            <a:r>
              <a:rPr lang="en-US" altLang="ko-KR" sz="2200">
                <a:solidFill>
                  <a:srgbClr val="1F2327"/>
                </a:solidFill>
                <a:latin typeface="Malgun Gothic" panose="020B0503020000020004" pitchFamily="50" charset="-127"/>
              </a:rPr>
              <a:t>CSI-only </a:t>
            </a:r>
            <a:r>
              <a:rPr lang="ko-KR" altLang="en-US" sz="2200">
                <a:solidFill>
                  <a:srgbClr val="1F2327"/>
                </a:solidFill>
                <a:latin typeface="Malgun Gothic" panose="020B0503020000020004" pitchFamily="50" charset="-127"/>
              </a:rPr>
              <a:t>구조로 구현</a:t>
            </a:r>
          </a:p>
          <a:p>
            <a:r>
              <a:rPr lang="en-US" altLang="ko-KR" sz="2200">
                <a:solidFill>
                  <a:srgbClr val="1F2327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2200">
                <a:solidFill>
                  <a:srgbClr val="1F2327"/>
                </a:solidFill>
                <a:latin typeface="Malgun Gothic" panose="020B0503020000020004" pitchFamily="50" charset="-127"/>
              </a:rPr>
              <a:t>주의점</a:t>
            </a:r>
            <a:r>
              <a:rPr lang="en-US" altLang="ko-KR" sz="2200">
                <a:solidFill>
                  <a:srgbClr val="1F2327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2200">
                <a:solidFill>
                  <a:srgbClr val="1F2327"/>
                </a:solidFill>
                <a:latin typeface="Malgun Gothic" panose="020B0503020000020004" pitchFamily="50" charset="-127"/>
              </a:rPr>
              <a:t>낙상 진단이나 의료기기 수준 판정이 아니라 의심 이벤트 후보 감지</a:t>
            </a:r>
          </a:p>
          <a:p>
            <a:r>
              <a:rPr lang="en-US" altLang="ko-KR" sz="2200">
                <a:solidFill>
                  <a:srgbClr val="1F2327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2200">
                <a:solidFill>
                  <a:srgbClr val="1F2327"/>
                </a:solidFill>
                <a:latin typeface="Malgun Gothic" panose="020B0503020000020004" pitchFamily="50" charset="-127"/>
              </a:rPr>
              <a:t>향후 과제</a:t>
            </a:r>
            <a:r>
              <a:rPr lang="en-US" altLang="ko-KR" sz="2200">
                <a:solidFill>
                  <a:srgbClr val="1F2327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2200">
                <a:solidFill>
                  <a:srgbClr val="1F2327"/>
                </a:solidFill>
                <a:latin typeface="Malgun Gothic" panose="020B0503020000020004" pitchFamily="50" charset="-127"/>
              </a:rPr>
              <a:t>실제 환자 시나리오 데이터 수집</a:t>
            </a:r>
            <a:r>
              <a:rPr lang="en-US" altLang="ko-KR" sz="2200">
                <a:solidFill>
                  <a:srgbClr val="1F2327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2200">
                <a:solidFill>
                  <a:srgbClr val="1F2327"/>
                </a:solidFill>
                <a:latin typeface="Malgun Gothic" panose="020B0503020000020004" pitchFamily="50" charset="-127"/>
              </a:rPr>
              <a:t>환경별 </a:t>
            </a:r>
            <a:r>
              <a:rPr lang="en-US" altLang="ko-KR" sz="2200">
                <a:solidFill>
                  <a:srgbClr val="1F2327"/>
                </a:solidFill>
                <a:latin typeface="Malgun Gothic" panose="020B0503020000020004" pitchFamily="50" charset="-127"/>
              </a:rPr>
              <a:t>threshold </a:t>
            </a:r>
            <a:r>
              <a:rPr lang="ko-KR" altLang="en-US" sz="2200">
                <a:solidFill>
                  <a:srgbClr val="1F2327"/>
                </a:solidFill>
                <a:latin typeface="Malgun Gothic" panose="020B0503020000020004" pitchFamily="50" charset="-127"/>
              </a:rPr>
              <a:t>보정</a:t>
            </a:r>
            <a:r>
              <a:rPr lang="en-US" altLang="ko-KR" sz="2200">
                <a:solidFill>
                  <a:srgbClr val="1F2327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2200">
                <a:solidFill>
                  <a:srgbClr val="1F2327"/>
                </a:solidFill>
                <a:latin typeface="Malgun Gothic" panose="020B0503020000020004" pitchFamily="50" charset="-127"/>
              </a:rPr>
              <a:t>모델 일반화 검증</a:t>
            </a:r>
          </a:p>
        </p:txBody>
      </p:sp>
    </p:spTree>
    <p:extLst>
      <p:ext uri="{BB962C8B-B14F-4D97-AF65-F5344CB8AC3E}">
        <p14:creationId xmlns:p14="http://schemas.microsoft.com/office/powerpoint/2010/main" val="3647173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325</Words>
  <Application>Microsoft Office PowerPoint</Application>
  <PresentationFormat>사용자 지정</PresentationFormat>
  <Paragraphs>33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Malgun Gothic</vt:lpstr>
      <vt:lpstr>Malgun Gothic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이태곤(학부생-지능형ICT융합전공)</dc:creator>
  <cp:lastModifiedBy>이태곤(학부생-지능형ICT융합전공)</cp:lastModifiedBy>
  <cp:revision>1</cp:revision>
  <dcterms:created xsi:type="dcterms:W3CDTF">2026-06-04T03:59:13Z</dcterms:created>
  <dcterms:modified xsi:type="dcterms:W3CDTF">2026-06-04T03:59:13Z</dcterms:modified>
</cp:coreProperties>
</file>